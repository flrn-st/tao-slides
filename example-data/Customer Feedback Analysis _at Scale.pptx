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2ae9900ec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2ae9900ec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2ae9900ec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2ae9900ec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2ae9900e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2ae9900e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fdc8d78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fdc8d78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2ae9900ec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e2ae9900ec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e2ae9900e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e2ae9900e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e2ae9900ec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e2ae9900ec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2ae9900e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e2ae9900e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e2ae9900ec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e2ae9900e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2ae9900ec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e2ae9900e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2ae9900e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2ae9900e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e2ae9900ec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e2ae9900ec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2ae9900ec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e2ae9900ec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2ae9900ec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e2ae9900ec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e2ae9900ec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e2ae9900ec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2ae9900ec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e2ae9900ec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2ae9900ec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e2ae9900ec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2ae9900ec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e2ae9900ec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e2ae9900ec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e2ae9900ec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2ae9900ec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e2ae9900ec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e2ae9900ec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e2ae9900ec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2ae9900ec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2ae9900ec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e2ae9900ec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e2ae9900ec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e2ae9900ec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e2ae9900ec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2ae9900ec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e2ae9900ec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e2ae9900ec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e2ae9900ec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480">
                <a:latin typeface="Roboto Mono"/>
                <a:ea typeface="Roboto Mono"/>
                <a:cs typeface="Roboto Mono"/>
                <a:sym typeface="Roboto Mono"/>
              </a:rPr>
              <a:t>Customer Feedback Analysis </a:t>
            </a:r>
            <a:br>
              <a:rPr lang="en-GB" sz="348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3480">
                <a:latin typeface="Roboto Mono"/>
                <a:ea typeface="Roboto Mono"/>
                <a:cs typeface="Roboto Mono"/>
                <a:sym typeface="Roboto Mono"/>
              </a:rPr>
              <a:t>at Scale</a:t>
            </a:r>
            <a:endParaRPr sz="268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40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Roboto Mono"/>
                <a:ea typeface="Roboto Mono"/>
                <a:cs typeface="Roboto Mono"/>
                <a:sym typeface="Roboto Mono"/>
              </a:rPr>
              <a:t>Florian Ernst - 2024</a:t>
            </a:r>
            <a:endParaRPr sz="25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Introduction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About me:</a:t>
            </a:r>
            <a:endParaRPr sz="19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Name: Florian Ernst (@</a:t>
            </a:r>
            <a:r>
              <a:rPr lang="en-GB" sz="1900">
                <a:solidFill>
                  <a:srgbClr val="93C47D"/>
                </a:solidFill>
                <a:latin typeface="Roboto Mono"/>
                <a:ea typeface="Roboto Mono"/>
                <a:cs typeface="Roboto Mono"/>
                <a:sym typeface="Roboto Mono"/>
              </a:rPr>
              <a:t>mySugr for 8 years</a:t>
            </a: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A4C2F4"/>
                </a:solidFill>
                <a:latin typeface="Roboto Mono"/>
                <a:ea typeface="Roboto Mono"/>
                <a:cs typeface="Roboto Mono"/>
                <a:sym typeface="Roboto Mono"/>
              </a:rPr>
              <a:t>(iOS) </a:t>
            </a:r>
            <a:r>
              <a:rPr b="1" lang="en-GB" sz="1900">
                <a:solidFill>
                  <a:srgbClr val="A4C2F4"/>
                </a:solidFill>
                <a:latin typeface="Roboto Mono"/>
                <a:ea typeface="Roboto Mono"/>
                <a:cs typeface="Roboto Mono"/>
                <a:sym typeface="Roboto Mono"/>
              </a:rPr>
              <a:t>Mobile Developer</a:t>
            </a:r>
            <a:r>
              <a:rPr b="1"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-&gt; </a:t>
            </a:r>
            <a:r>
              <a:rPr b="1" lang="en-GB" sz="1900">
                <a:solidFill>
                  <a:srgbClr val="F9CB9C"/>
                </a:solidFill>
                <a:latin typeface="Roboto Mono"/>
                <a:ea typeface="Roboto Mono"/>
                <a:cs typeface="Roboto Mono"/>
                <a:sym typeface="Roboto Mono"/>
              </a:rPr>
              <a:t>Data Engineer</a:t>
            </a:r>
            <a:r>
              <a:rPr b="1"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-&gt; </a:t>
            </a:r>
            <a:r>
              <a:rPr b="1" lang="en-GB" sz="1900" u="sng">
                <a:solidFill>
                  <a:srgbClr val="B6D7A8"/>
                </a:solidFill>
                <a:latin typeface="Roboto Mono"/>
                <a:ea typeface="Roboto Mono"/>
                <a:cs typeface="Roboto Mono"/>
                <a:sym typeface="Roboto Mono"/>
              </a:rPr>
              <a:t>Security Eng.</a:t>
            </a:r>
            <a:endParaRPr b="1" sz="1900" u="sng">
              <a:solidFill>
                <a:srgbClr val="B6D7A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About what I'm building:</a:t>
            </a:r>
            <a:endParaRPr sz="19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0201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Is in an early alpha phase &amp; under development.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020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Result of many weekends talking to Large Language Models.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020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Still in POC phase. 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Agenda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Problem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Goal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Solution?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rgbClr val="B6D7A8"/>
                </a:solidFill>
                <a:latin typeface="Roboto Mono"/>
                <a:ea typeface="Roboto Mono"/>
                <a:cs typeface="Roboto Mono"/>
                <a:sym typeface="Roboto Mono"/>
              </a:rPr>
              <a:t>Feature Overview</a:t>
            </a:r>
            <a:endParaRPr sz="1900">
              <a:solidFill>
                <a:srgbClr val="B6D7A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rgbClr val="B6D7A8"/>
                </a:solidFill>
                <a:latin typeface="Roboto Mono"/>
                <a:ea typeface="Roboto Mono"/>
                <a:cs typeface="Roboto Mono"/>
                <a:sym typeface="Roboto Mono"/>
              </a:rPr>
              <a:t>How does it work?</a:t>
            </a:r>
            <a:endParaRPr sz="1900">
              <a:solidFill>
                <a:srgbClr val="B6D7A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rgbClr val="B6D7A8"/>
                </a:solidFill>
                <a:latin typeface="Roboto Mono"/>
                <a:ea typeface="Roboto Mono"/>
                <a:cs typeface="Roboto Mono"/>
                <a:sym typeface="Roboto Mono"/>
              </a:rPr>
              <a:t>Miscellaneous</a:t>
            </a:r>
            <a:endParaRPr sz="1900">
              <a:solidFill>
                <a:srgbClr val="B6D7A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rgbClr val="B6D7A8"/>
                </a:solidFill>
                <a:latin typeface="Roboto Mono"/>
                <a:ea typeface="Roboto Mono"/>
                <a:cs typeface="Roboto Mono"/>
                <a:sym typeface="Roboto Mono"/>
              </a:rPr>
              <a:t>Demo Time</a:t>
            </a:r>
            <a:endParaRPr sz="1900">
              <a:solidFill>
                <a:srgbClr val="B6D7A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Feel free to raise your hand at any time for questions ✋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The Problem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6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Analyzing large volumes of diverse customer feedback is resource-intensive.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Manual analysis methods are slow, biased, and miss contextual nuances.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Delayed feedback processing hinders timely action on emerging issues.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Tracking metrics like downloads and ratings alone fails to capture the full spectrum of customer sentiment and insights.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91434"/>
            <a:ext cx="8520602" cy="416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The Goal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Making sense of customer feedback.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Providing tools to arrive at actionable insights.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Summaries, Reports, Dashboards, Search Engines..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Identifying in-the-wild issues early.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Help with the detection of special information in customer feedback (safety relevant).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"/>
              <a:buChar char="-"/>
            </a:pPr>
            <a:r>
              <a:rPr lang="en-GB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Use the same approach to identify weaknesses and areas for improvement in competitor products.</a:t>
            </a:r>
            <a:endParaRPr sz="1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The Solution?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LLMs are trained on trillions of tokens of human written text, which makes them good at: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Natural Language Processing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Sentiment detection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Context understanding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Filtering of noise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Extraction of features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Conclusion: Use LLMs to analyse the feedback, categorize it &amp; create summaries and insights.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985800" y="2285400"/>
            <a:ext cx="717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Feature Overview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Default Feature Extraction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Positive &amp; Negative Keywords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Issues / Bugs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Feature Requests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Questions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Sentiment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500" y="2863575"/>
            <a:ext cx="6149024" cy="207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Feedback Summarization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838" y="1219200"/>
            <a:ext cx="7052324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Feedback Summarization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75" y="1419225"/>
            <a:ext cx="7492225" cy="31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Feedback Summarization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1" name="Google Shape;1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075" y="1552574"/>
            <a:ext cx="7683826" cy="28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Custom Tags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7" name="Google Shape;1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625" y="1114425"/>
            <a:ext cx="6144725" cy="37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Analytics &amp; Filters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3" name="Google Shape;1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950" y="1055825"/>
            <a:ext cx="455653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4525" y="1055825"/>
            <a:ext cx="2165959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2429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425" y="2644400"/>
            <a:ext cx="8773176" cy="225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Full Text &amp; Semantic search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46" name="Google Shape;1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2026" y="1209675"/>
            <a:ext cx="611995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Supported Data Sources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Apple's AppStore (API / Scraper)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Google Play (API / CSV / Scraper)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Rest API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Reddit Live Monitoring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More to come…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LLM powered Web Scraping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59" name="Google Shape;1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1739774"/>
            <a:ext cx="8832302" cy="186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Webhook Mode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 this mode, a webhook (JSON POST) is called once the analysis is finished and no data is stored in the database.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" y="2482075"/>
            <a:ext cx="8305802" cy="15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985800" y="2285400"/>
            <a:ext cx="717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How does it work?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Step 1 - Analysing the Feedback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77" name="Google Shape;17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3008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Step 2 - Creating Internal Summaries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83" name="Google Shape;1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347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Step 3 - Creating Reports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89" name="Google Shape;18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4925"/>
            <a:ext cx="8839204" cy="2719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Step 4 - Creating Insights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95" name="Google Shape;19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3547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Speed, Models &amp; more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1" name="Google Shape;201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Mix of Anthropic Claude, GPT-4o, llama3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Pipelines highly configurable.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Written in Go, HTMX &amp; Tailwind.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Heavy lifting is outsourced to Serverless GPUs and LLM API providers.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Could probably be moved completely on-premise.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Demo runs on a 3.49 EUR / Month Server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Roadmap &amp; Future Outlook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7" name="Google Shape;20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More Data Sources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Dashboards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More analysis types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Mono"/>
              <a:buChar char="-"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Mark app as competitor to run different pipelines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ChatGPT like interface 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Cross App comparisons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This is the worst AI will ever be.</a:t>
            </a:r>
            <a:endParaRPr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"/>
          <p:cNvSpPr txBox="1"/>
          <p:nvPr>
            <p:ph type="title"/>
          </p:nvPr>
        </p:nvSpPr>
        <p:spPr>
          <a:xfrm>
            <a:off x="675000" y="1976100"/>
            <a:ext cx="77940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Demo Time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